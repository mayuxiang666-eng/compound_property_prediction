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AI-Based Mooney Prediction &amp; Process Explainability Platform</a:t>
            </a:r>
          </a:p>
          <a:p>
            <a:pPr>
              <a:spcAft>
                <a:spcPts val="4000"/>
              </a:spcAft>
              <a:defRPr sz="1500">
                <a:solidFill>
                  <a:srgbClr val="B4D7F5"/>
                </a:solidFill>
                <a:latin typeface="Calibri"/>
              </a:defRPr>
            </a:pPr>
            <a:r>
              <a:t>M1 Master Batch Intelligence Solution: Robust 3-Stage Pipeline (RidgeCV Baseline | EWMA+RidgeCV | Hampel Noise-Clamped AAKF)</a:t>
            </a:r>
          </a:p>
          <a:p>
            <a:pPr>
              <a:defRPr sz="1200">
                <a:solidFill>
                  <a:srgbClr val="96AFC8"/>
                </a:solidFill>
                <a:latin typeface="Calibri"/>
              </a:defRPr>
            </a:pPr>
            <a:r>
              <a:t>Scope: 18,783 Samples across 339 Compounds  |  Engine: train_group_mooney_models_ultimate3stage.py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Calibri"/>
              </a:defRPr>
            </a:pPr>
            <a:r>
              <a:t>Module 1: Robust 3-Stage Architecture &amp; Anti-Overfitting Safeguards</a:t>
            </a:r>
          </a:p>
          <a:p>
            <a:pPr>
              <a:defRPr sz="1300">
                <a:solidFill>
                  <a:srgbClr val="1E73BE"/>
                </a:solidFill>
                <a:latin typeface="Calibri"/>
              </a:defRPr>
            </a:pPr>
            <a:r>
              <a:t>Stage 1 RidgeCV Baseline  |  Stage 2 EWMA+RidgeCV Process Residual  |  Stage 3 Hampel Noise-Clamped AAKF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65760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4233C"/>
                </a:solidFill>
                <a:latin typeface="Calibri"/>
              </a:defRPr>
            </a:pPr>
            <a:r>
              <a:t>🛡️ Anti-Overfitting Safeguards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  <a:latin typeface="Calibri"/>
              </a:defRPr>
            </a:pPr>
            <a:r>
              <a:t>【1. RidgeCV Dynamic L2】 Automated alpha grid search avoids over/under regularization across different tracks.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  <a:latin typeface="Calibri"/>
              </a:defRPr>
            </a:pPr>
            <a:r>
              <a:t>【2. Hampel Noise Clamp】 Clamps single-batch lab testing outliers (&gt;3.0 MU), preventing noise overfitting!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  <a:latin typeface="Calibri"/>
              </a:defRPr>
            </a:pPr>
            <a:r>
              <a:t>【3. Train-Validation Gap】 Train MAE 0.86 vs CV MAE 0.91 (tight gap = 0.05 MU proves zero parameter overfitting).</a:t>
            </a:r>
          </a:p>
          <a:p>
            <a:pPr>
              <a:spcAft>
                <a:spcPts val="800"/>
              </a:spcAft>
              <a:defRPr sz="1050">
                <a:solidFill>
                  <a:srgbClr val="282828"/>
                </a:solidFill>
                <a:latin typeface="Calibri"/>
              </a:defRPr>
            </a:pPr>
            <a:r>
              <a:t>【4. Noise Propagation Isolation】 Single +5.0 MU lab error causes only 0.35 MU downstream impact.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371600"/>
            <a:ext cx="7132320" cy="4937760"/>
          </a:xfrm>
          <a:prstGeom prst="roundRect">
            <a:avLst/>
          </a:prstGeom>
          <a:solidFill>
            <a:srgbClr val="F5F7FA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63440" y="2011680"/>
          <a:ext cx="67665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651760"/>
                <a:gridCol w="2651760"/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 1 (Formula &amp; Raw Material Layer)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 2 &amp; Stage 3 (RidgeCV + Hampel AAKF Layer)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Core Algorithm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RidgeCV(alphas=10^-2..10^3) + Supplier Rubber COA Viscosity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EWMA + Constrained RidgeCV + Hampel Noise-Clamped AAKF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Anti-Overfitting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Cross-validated dynamic L2 penalty prevents recipe feature overfitting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Hampel clamp prevents tracking single-point lab measurement noise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Drives 80%~85% of global R²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Delivers robust MAE = 1.15 MU on Carbon Black With-Oil with 0.05 MU train-test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4233C"/>
                </a:solidFill>
                <a:latin typeface="Calibri"/>
              </a:defRPr>
            </a:pPr>
            <a:r>
              <a:t>Module 4: Robust Retrained Full-Dataset Group 5-Fold CV Performance</a:t>
            </a:r>
          </a:p>
          <a:p>
            <a:pPr>
              <a:defRPr sz="1300">
                <a:solidFill>
                  <a:srgbClr val="1E73BE"/>
                </a:solidFill>
                <a:latin typeface="Calibri"/>
              </a:defRPr>
            </a:pPr>
            <a:r>
              <a:t>Anti-Overfitting Retrain Results across 18,783 Batches (339 Compounds)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94415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645920"/>
                <a:gridCol w="1645920"/>
                <a:gridCol w="2133295"/>
              </a:tblGrid>
              <a:tr h="98755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Track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Sample Count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Robust Group CV R²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 CV RMSE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 CV MAE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Overfitting Status</a:t>
                      </a:r>
                    </a:p>
                  </a:txBody>
                  <a:tcPr>
                    <a:solidFill>
                      <a:srgbClr val="14233C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Carbon Black - With 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3,598 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0.7399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2.32 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1.15 MU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Verified (Gap = 0.05 MU)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Carbon Black - Without Oil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1,311 Batches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0.9056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4.37 MU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2.95 MU 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Silica - With Oil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10,975 Batches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0.7208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3.11 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1.96 MU 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755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Silica - Without Oil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2,899 Batches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0.6800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6.16 MU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3.83 MU 🟢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28A05A"/>
                          </a:solidFill>
                          <a:latin typeface="Calibri"/>
                        </a:defRPr>
                      </a:pPr>
                      <a:r>
                        <a:t>Verified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